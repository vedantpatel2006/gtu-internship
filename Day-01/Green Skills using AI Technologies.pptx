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 Bold" charset="1" panose="00000800000000000000"/>
      <p:regular r:id="rId17"/>
    </p:embeddedFont>
    <p:embeddedFont>
      <p:font typeface="Open Sauce Bold" charset="1" panose="00000800000000000000"/>
      <p:regular r:id="rId18"/>
    </p:embeddedFont>
    <p:embeddedFont>
      <p:font typeface="Open Sauce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759885">
            <a:off x="3487731" y="3204890"/>
            <a:ext cx="12563637" cy="6791635"/>
            <a:chOff x="0" y="0"/>
            <a:chExt cx="933835" cy="5048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3835" cy="504811"/>
            </a:xfrm>
            <a:custGeom>
              <a:avLst/>
              <a:gdLst/>
              <a:ahLst/>
              <a:cxnLst/>
              <a:rect r="r" b="b" t="t" l="l"/>
              <a:pathLst>
                <a:path h="504811" w="933835">
                  <a:moveTo>
                    <a:pt x="0" y="0"/>
                  </a:moveTo>
                  <a:lnTo>
                    <a:pt x="933835" y="0"/>
                  </a:lnTo>
                  <a:lnTo>
                    <a:pt x="933835" y="504811"/>
                  </a:lnTo>
                  <a:lnTo>
                    <a:pt x="0" y="5048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33835" cy="542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3986891">
            <a:off x="13419851" y="5436751"/>
            <a:ext cx="12563637" cy="6791635"/>
            <a:chOff x="0" y="0"/>
            <a:chExt cx="933835" cy="5048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3835" cy="504811"/>
            </a:xfrm>
            <a:custGeom>
              <a:avLst/>
              <a:gdLst/>
              <a:ahLst/>
              <a:cxnLst/>
              <a:rect r="r" b="b" t="t" l="l"/>
              <a:pathLst>
                <a:path h="504811" w="933835">
                  <a:moveTo>
                    <a:pt x="0" y="0"/>
                  </a:moveTo>
                  <a:lnTo>
                    <a:pt x="933835" y="0"/>
                  </a:lnTo>
                  <a:lnTo>
                    <a:pt x="933835" y="504811"/>
                  </a:lnTo>
                  <a:lnTo>
                    <a:pt x="0" y="5048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33835" cy="542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077838" y="2391334"/>
            <a:ext cx="5003978" cy="5003978"/>
          </a:xfrm>
          <a:custGeom>
            <a:avLst/>
            <a:gdLst/>
            <a:ahLst/>
            <a:cxnLst/>
            <a:rect r="r" b="b" t="t" l="l"/>
            <a:pathLst>
              <a:path h="5003978" w="5003978">
                <a:moveTo>
                  <a:pt x="0" y="0"/>
                </a:moveTo>
                <a:lnTo>
                  <a:pt x="5003978" y="0"/>
                </a:lnTo>
                <a:lnTo>
                  <a:pt x="5003978" y="5003978"/>
                </a:lnTo>
                <a:lnTo>
                  <a:pt x="0" y="5003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89700" y="1383962"/>
            <a:ext cx="9866690" cy="190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1"/>
              </a:lnSpc>
            </a:pPr>
            <a:r>
              <a:rPr lang="en-US" sz="5429" b="tru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GREEN SKILLS USING AI TECHNOLOGIES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9700" y="5795645"/>
            <a:ext cx="10939625" cy="346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Name: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Vedant Patel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Enrollment No.: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241263107039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Stream: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Computer Engineering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College: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SAL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ering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&amp; Technical Institute (SETI),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          Ahmedabad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Date: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July 2025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489700" y="3236780"/>
            <a:ext cx="9462221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GTU</a:t>
            </a:r>
            <a:r>
              <a:rPr lang="en-US" b="true" sz="2799" strike="noStrike" u="non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2799" strike="noStrike" u="non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–</a:t>
            </a:r>
            <a:r>
              <a:rPr lang="en-US" b="true" sz="2799" strike="noStrike" u="non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</a:t>
            </a:r>
            <a:r>
              <a:rPr lang="en-US" b="true" sz="2799" strike="noStrike" u="non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</a:t>
            </a:r>
            <a:r>
              <a:rPr lang="en-US" b="true" sz="2799" strike="noStrike" u="non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 </a:t>
            </a:r>
            <a:r>
              <a:rPr lang="en-US" b="true" sz="2799" strike="noStrike" u="non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</a:t>
            </a:r>
            <a:r>
              <a:rPr lang="en-US" b="true" sz="2799" strike="noStrike" u="non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oun</a:t>
            </a:r>
            <a:r>
              <a:rPr lang="en-US" b="true" sz="2799" strike="noStrike" u="non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</a:t>
            </a:r>
            <a:r>
              <a:rPr lang="en-US" b="true" sz="2799" strike="noStrike" u="non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ion In</a:t>
            </a:r>
            <a:r>
              <a:rPr lang="en-US" b="true" sz="2799" strike="noStrike" u="non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</a:t>
            </a:r>
            <a:r>
              <a:rPr lang="en-US" b="true" sz="2799" strike="noStrike" u="non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</a:t>
            </a:r>
            <a:r>
              <a:rPr lang="en-US" b="true" sz="2799" strike="noStrike" u="non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</a:t>
            </a:r>
            <a:r>
              <a:rPr lang="en-US" b="true" sz="2799" strike="noStrike" u="non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ns</a:t>
            </a:r>
            <a:r>
              <a:rPr lang="en-US" b="true" sz="2799" strike="noStrike" u="non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</a:t>
            </a:r>
            <a:r>
              <a:rPr lang="en-US" b="true" sz="2799" strike="noStrike" u="non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  <a:r>
              <a:rPr lang="en-US" b="true" sz="2799" strike="noStrike" u="non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</a:t>
            </a:r>
            <a:r>
              <a:rPr lang="en-US" b="true" sz="2799" strike="noStrike" u="non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2799" strike="noStrike" u="non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</a:t>
            </a:r>
            <a:r>
              <a:rPr lang="en-US" b="true" sz="2799" strike="noStrike" u="non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2799" strike="noStrike" u="non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59708" y="1595487"/>
            <a:ext cx="16125637" cy="405095"/>
            <a:chOff x="0" y="0"/>
            <a:chExt cx="4247081" cy="1066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47081" cy="106692"/>
            </a:xfrm>
            <a:custGeom>
              <a:avLst/>
              <a:gdLst/>
              <a:ahLst/>
              <a:cxnLst/>
              <a:rect r="r" b="b" t="t" l="l"/>
              <a:pathLst>
                <a:path h="106692" w="4247081">
                  <a:moveTo>
                    <a:pt x="0" y="0"/>
                  </a:moveTo>
                  <a:lnTo>
                    <a:pt x="4247081" y="0"/>
                  </a:lnTo>
                  <a:lnTo>
                    <a:pt x="4247081" y="106692"/>
                  </a:lnTo>
                  <a:lnTo>
                    <a:pt x="0" y="1066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47081" cy="144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1087868">
            <a:off x="-3377033" y="7615752"/>
            <a:ext cx="8811466" cy="3722844"/>
          </a:xfrm>
          <a:custGeom>
            <a:avLst/>
            <a:gdLst/>
            <a:ahLst/>
            <a:cxnLst/>
            <a:rect r="r" b="b" t="t" l="l"/>
            <a:pathLst>
              <a:path h="3722844" w="8811466">
                <a:moveTo>
                  <a:pt x="8811466" y="0"/>
                </a:moveTo>
                <a:lnTo>
                  <a:pt x="0" y="0"/>
                </a:lnTo>
                <a:lnTo>
                  <a:pt x="0" y="3722845"/>
                </a:lnTo>
                <a:lnTo>
                  <a:pt x="8811466" y="3722845"/>
                </a:lnTo>
                <a:lnTo>
                  <a:pt x="88114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1087868">
            <a:off x="12497896" y="-2227301"/>
            <a:ext cx="8811466" cy="3722844"/>
          </a:xfrm>
          <a:custGeom>
            <a:avLst/>
            <a:gdLst/>
            <a:ahLst/>
            <a:cxnLst/>
            <a:rect r="r" b="b" t="t" l="l"/>
            <a:pathLst>
              <a:path h="3722844" w="8811466">
                <a:moveTo>
                  <a:pt x="8811466" y="0"/>
                </a:moveTo>
                <a:lnTo>
                  <a:pt x="0" y="0"/>
                </a:lnTo>
                <a:lnTo>
                  <a:pt x="0" y="3722844"/>
                </a:lnTo>
                <a:lnTo>
                  <a:pt x="8811466" y="3722844"/>
                </a:lnTo>
                <a:lnTo>
                  <a:pt x="88114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37351" y="4824910"/>
            <a:ext cx="6168783" cy="4210194"/>
          </a:xfrm>
          <a:custGeom>
            <a:avLst/>
            <a:gdLst/>
            <a:ahLst/>
            <a:cxnLst/>
            <a:rect r="r" b="b" t="t" l="l"/>
            <a:pathLst>
              <a:path h="4210194" w="6168783">
                <a:moveTo>
                  <a:pt x="0" y="0"/>
                </a:moveTo>
                <a:lnTo>
                  <a:pt x="6168782" y="0"/>
                </a:lnTo>
                <a:lnTo>
                  <a:pt x="6168782" y="4210194"/>
                </a:lnTo>
                <a:lnTo>
                  <a:pt x="0" y="4210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54055"/>
            <a:ext cx="7240694" cy="85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7358" y="1631640"/>
            <a:ext cx="448321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</a:t>
            </a:r>
            <a:r>
              <a:rPr lang="en-US" sz="2799" b="true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 are Green Skills?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6901" y="2265370"/>
            <a:ext cx="15517717" cy="146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Definition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Green Skills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are the knowledge, abilities, and practices that help protect the environment, conserve natural resources, and sup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 sustainable development.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7358" y="3852545"/>
            <a:ext cx="8769107" cy="643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are </a:t>
            </a:r>
            <a:r>
              <a:rPr lang="en-US" b="true" sz="2799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Green Skills Import</a:t>
            </a:r>
            <a:r>
              <a:rPr lang="en-US" b="true" sz="2799" strike="noStrike" u="none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ant?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Protect the Environment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Reduce pollution and greenhouse gas emissions.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Create Green Jobs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Open career opportunities in renewable energy, waste management, electric vehicles, and environmental conservation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Role of AI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 improves waste management, predicts climate changes, optimizes energy usage, and supports sustainable agriculture.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59708" y="1595487"/>
            <a:ext cx="16125637" cy="405095"/>
            <a:chOff x="0" y="0"/>
            <a:chExt cx="4247081" cy="1066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47081" cy="106692"/>
            </a:xfrm>
            <a:custGeom>
              <a:avLst/>
              <a:gdLst/>
              <a:ahLst/>
              <a:cxnLst/>
              <a:rect r="r" b="b" t="t" l="l"/>
              <a:pathLst>
                <a:path h="106692" w="4247081">
                  <a:moveTo>
                    <a:pt x="0" y="0"/>
                  </a:moveTo>
                  <a:lnTo>
                    <a:pt x="4247081" y="0"/>
                  </a:lnTo>
                  <a:lnTo>
                    <a:pt x="4247081" y="106692"/>
                  </a:lnTo>
                  <a:lnTo>
                    <a:pt x="0" y="1066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47081" cy="144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1087868">
            <a:off x="-3377033" y="7615752"/>
            <a:ext cx="8811466" cy="3722844"/>
          </a:xfrm>
          <a:custGeom>
            <a:avLst/>
            <a:gdLst/>
            <a:ahLst/>
            <a:cxnLst/>
            <a:rect r="r" b="b" t="t" l="l"/>
            <a:pathLst>
              <a:path h="3722844" w="8811466">
                <a:moveTo>
                  <a:pt x="8811466" y="0"/>
                </a:moveTo>
                <a:lnTo>
                  <a:pt x="0" y="0"/>
                </a:lnTo>
                <a:lnTo>
                  <a:pt x="0" y="3722845"/>
                </a:lnTo>
                <a:lnTo>
                  <a:pt x="8811466" y="3722845"/>
                </a:lnTo>
                <a:lnTo>
                  <a:pt x="88114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1087868">
            <a:off x="12671136" y="-2189734"/>
            <a:ext cx="8811466" cy="3722844"/>
          </a:xfrm>
          <a:custGeom>
            <a:avLst/>
            <a:gdLst/>
            <a:ahLst/>
            <a:cxnLst/>
            <a:rect r="r" b="b" t="t" l="l"/>
            <a:pathLst>
              <a:path h="3722844" w="8811466">
                <a:moveTo>
                  <a:pt x="8811466" y="0"/>
                </a:moveTo>
                <a:lnTo>
                  <a:pt x="0" y="0"/>
                </a:lnTo>
                <a:lnTo>
                  <a:pt x="0" y="3722844"/>
                </a:lnTo>
                <a:lnTo>
                  <a:pt x="8811466" y="3722844"/>
                </a:lnTo>
                <a:lnTo>
                  <a:pt x="88114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56465" y="3585183"/>
            <a:ext cx="7552005" cy="3820080"/>
          </a:xfrm>
          <a:custGeom>
            <a:avLst/>
            <a:gdLst/>
            <a:ahLst/>
            <a:cxnLst/>
            <a:rect r="r" b="b" t="t" l="l"/>
            <a:pathLst>
              <a:path h="3820080" w="7552005">
                <a:moveTo>
                  <a:pt x="0" y="0"/>
                </a:moveTo>
                <a:lnTo>
                  <a:pt x="7552005" y="0"/>
                </a:lnTo>
                <a:lnTo>
                  <a:pt x="7552005" y="3820081"/>
                </a:lnTo>
                <a:lnTo>
                  <a:pt x="0" y="3820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07" t="-2586" r="-1050" b="-335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54055"/>
            <a:ext cx="13806932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sz="5000" b="tru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ustainable Development Goals (SDGs)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7358" y="1631640"/>
            <a:ext cx="448321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</a:t>
            </a:r>
            <a:r>
              <a:rPr lang="en-US" sz="2799" b="true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 are the SDGs?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6901" y="2246320"/>
            <a:ext cx="15517717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Sustainable Dev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elopment Goals (SDGs)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are 17 global goals established by the United Nations in 2015 to achieve a better and mor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sustainable future by 2030.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7358" y="3677431"/>
            <a:ext cx="8769107" cy="346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They</a:t>
            </a:r>
            <a:r>
              <a:rPr lang="en-US" b="true" sz="2799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fo</a:t>
            </a:r>
            <a:r>
              <a:rPr lang="en-US" b="true" sz="2799" strike="noStrike" u="none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cus on</a:t>
            </a:r>
            <a:r>
              <a:rPr lang="en-US" b="true" sz="2799" strike="noStrike" u="none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solving gl</a:t>
            </a:r>
            <a:r>
              <a:rPr lang="en-US" b="true" sz="2799" strike="noStrike" u="none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obal challenges such as: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1B5E1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Climate Change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Environmental Protection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lean Water &amp; Sanitation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Quality Education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Reducing Inequality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Global Partnerships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3845" y="7556468"/>
            <a:ext cx="16023830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</a:t>
            </a:r>
            <a:r>
              <a:rPr lang="en-US" b="true" sz="2799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I</a:t>
            </a:r>
            <a:r>
              <a:rPr lang="en-US" b="true" sz="2799" strike="noStrike" u="none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Learned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orking toget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her creates greater environmental impact.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and technology help organizations share data and solve environmental problems.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Partnerships encourage innovation and sustainable development.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59708" y="1595487"/>
            <a:ext cx="16125637" cy="405095"/>
            <a:chOff x="0" y="0"/>
            <a:chExt cx="4247081" cy="1066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47081" cy="106692"/>
            </a:xfrm>
            <a:custGeom>
              <a:avLst/>
              <a:gdLst/>
              <a:ahLst/>
              <a:cxnLst/>
              <a:rect r="r" b="b" t="t" l="l"/>
              <a:pathLst>
                <a:path h="106692" w="4247081">
                  <a:moveTo>
                    <a:pt x="0" y="0"/>
                  </a:moveTo>
                  <a:lnTo>
                    <a:pt x="4247081" y="0"/>
                  </a:lnTo>
                  <a:lnTo>
                    <a:pt x="4247081" y="106692"/>
                  </a:lnTo>
                  <a:lnTo>
                    <a:pt x="0" y="1066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47081" cy="144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1087868">
            <a:off x="-3377033" y="7615752"/>
            <a:ext cx="8811466" cy="3722844"/>
          </a:xfrm>
          <a:custGeom>
            <a:avLst/>
            <a:gdLst/>
            <a:ahLst/>
            <a:cxnLst/>
            <a:rect r="r" b="b" t="t" l="l"/>
            <a:pathLst>
              <a:path h="3722844" w="8811466">
                <a:moveTo>
                  <a:pt x="8811466" y="0"/>
                </a:moveTo>
                <a:lnTo>
                  <a:pt x="0" y="0"/>
                </a:lnTo>
                <a:lnTo>
                  <a:pt x="0" y="3722845"/>
                </a:lnTo>
                <a:lnTo>
                  <a:pt x="8811466" y="3722845"/>
                </a:lnTo>
                <a:lnTo>
                  <a:pt x="88114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1087868">
            <a:off x="12671136" y="-2189734"/>
            <a:ext cx="8811466" cy="3722844"/>
          </a:xfrm>
          <a:custGeom>
            <a:avLst/>
            <a:gdLst/>
            <a:ahLst/>
            <a:cxnLst/>
            <a:rect r="r" b="b" t="t" l="l"/>
            <a:pathLst>
              <a:path h="3722844" w="8811466">
                <a:moveTo>
                  <a:pt x="8811466" y="0"/>
                </a:moveTo>
                <a:lnTo>
                  <a:pt x="0" y="0"/>
                </a:lnTo>
                <a:lnTo>
                  <a:pt x="0" y="3722844"/>
                </a:lnTo>
                <a:lnTo>
                  <a:pt x="8811466" y="3722844"/>
                </a:lnTo>
                <a:lnTo>
                  <a:pt x="88114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60682"/>
            <a:ext cx="12794637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</a:t>
            </a:r>
            <a:r>
              <a:rPr lang="en-US" sz="5000" b="tru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 I Learned from the Data Centre Documentary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7397" y="2237185"/>
            <a:ext cx="448321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</a:t>
            </a:r>
            <a:r>
              <a:rPr lang="en-US" sz="2799" b="true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 is a Data Centre?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07397" y="2745043"/>
            <a:ext cx="15736591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Data C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 is a facility that stores, processes, and manages digital data. It powers cloud services, websites, AI applications, online banking, and streaming platforms.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07397" y="4121723"/>
            <a:ext cx="15079967" cy="593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Learnings</a:t>
            </a:r>
          </a:p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Hig</a:t>
            </a:r>
            <a:r>
              <a:rPr lang="en-US" sz="27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 Energy</a:t>
            </a:r>
            <a:r>
              <a:rPr lang="en-US" sz="27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Consumption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Data centres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consume large amounts of electricity to run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servers 24/7.</a:t>
            </a:r>
          </a:p>
          <a:p>
            <a:pPr algn="just">
              <a:lnSpc>
                <a:spcPts val="3919"/>
              </a:lnSpc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Cooling Systems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Servers gener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ate heat, so advanced cooling systems are required to maintain performance.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Environmental Impact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Traditional data centres can produce significant carbon emissions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if powered by fossi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 fuels.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Role of AI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 helps optimize cooling, monitor energy usage, predict equipment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ailures, and improve overall efficiency.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59708" y="1595487"/>
            <a:ext cx="16125637" cy="405095"/>
            <a:chOff x="0" y="0"/>
            <a:chExt cx="4247081" cy="1066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47081" cy="106692"/>
            </a:xfrm>
            <a:custGeom>
              <a:avLst/>
              <a:gdLst/>
              <a:ahLst/>
              <a:cxnLst/>
              <a:rect r="r" b="b" t="t" l="l"/>
              <a:pathLst>
                <a:path h="106692" w="4247081">
                  <a:moveTo>
                    <a:pt x="0" y="0"/>
                  </a:moveTo>
                  <a:lnTo>
                    <a:pt x="4247081" y="0"/>
                  </a:lnTo>
                  <a:lnTo>
                    <a:pt x="4247081" y="106692"/>
                  </a:lnTo>
                  <a:lnTo>
                    <a:pt x="0" y="1066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47081" cy="144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1087868">
            <a:off x="-3377033" y="7615752"/>
            <a:ext cx="8811466" cy="3722844"/>
          </a:xfrm>
          <a:custGeom>
            <a:avLst/>
            <a:gdLst/>
            <a:ahLst/>
            <a:cxnLst/>
            <a:rect r="r" b="b" t="t" l="l"/>
            <a:pathLst>
              <a:path h="3722844" w="8811466">
                <a:moveTo>
                  <a:pt x="8811466" y="0"/>
                </a:moveTo>
                <a:lnTo>
                  <a:pt x="0" y="0"/>
                </a:lnTo>
                <a:lnTo>
                  <a:pt x="0" y="3722845"/>
                </a:lnTo>
                <a:lnTo>
                  <a:pt x="8811466" y="3722845"/>
                </a:lnTo>
                <a:lnTo>
                  <a:pt x="88114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1087868">
            <a:off x="12671136" y="-2189734"/>
            <a:ext cx="8811466" cy="3722844"/>
          </a:xfrm>
          <a:custGeom>
            <a:avLst/>
            <a:gdLst/>
            <a:ahLst/>
            <a:cxnLst/>
            <a:rect r="r" b="b" t="t" l="l"/>
            <a:pathLst>
              <a:path h="3722844" w="8811466">
                <a:moveTo>
                  <a:pt x="8811466" y="0"/>
                </a:moveTo>
                <a:lnTo>
                  <a:pt x="0" y="0"/>
                </a:lnTo>
                <a:lnTo>
                  <a:pt x="0" y="3722844"/>
                </a:lnTo>
                <a:lnTo>
                  <a:pt x="8811466" y="3722844"/>
                </a:lnTo>
                <a:lnTo>
                  <a:pt x="88114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12198" y="2301253"/>
            <a:ext cx="13273012" cy="6076801"/>
          </a:xfrm>
          <a:custGeom>
            <a:avLst/>
            <a:gdLst/>
            <a:ahLst/>
            <a:cxnLst/>
            <a:rect r="r" b="b" t="t" l="l"/>
            <a:pathLst>
              <a:path h="6076801" w="13273012">
                <a:moveTo>
                  <a:pt x="0" y="0"/>
                </a:moveTo>
                <a:lnTo>
                  <a:pt x="13273012" y="0"/>
                </a:lnTo>
                <a:lnTo>
                  <a:pt x="13273012" y="6076801"/>
                </a:lnTo>
                <a:lnTo>
                  <a:pt x="0" y="60768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997" t="-24035" r="-9171" b="-118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60682"/>
            <a:ext cx="15640007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Gov</a:t>
            </a:r>
            <a:r>
              <a:rPr lang="en-US" sz="5000" b="tru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ernment Website Activity – CO₂ Emission Calculator (e-AMRIT)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10457" y="8455460"/>
            <a:ext cx="9667086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Vehicle Details Used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: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Vehicle Type: 4W (Four-Wheeler) , Fuel: Petrol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Daily Distance: 20 km  , Annual Distance: 7,300 km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59708" y="1595487"/>
            <a:ext cx="16125637" cy="405095"/>
            <a:chOff x="0" y="0"/>
            <a:chExt cx="4247081" cy="1066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47081" cy="106692"/>
            </a:xfrm>
            <a:custGeom>
              <a:avLst/>
              <a:gdLst/>
              <a:ahLst/>
              <a:cxnLst/>
              <a:rect r="r" b="b" t="t" l="l"/>
              <a:pathLst>
                <a:path h="106692" w="4247081">
                  <a:moveTo>
                    <a:pt x="0" y="0"/>
                  </a:moveTo>
                  <a:lnTo>
                    <a:pt x="4247081" y="0"/>
                  </a:lnTo>
                  <a:lnTo>
                    <a:pt x="4247081" y="106692"/>
                  </a:lnTo>
                  <a:lnTo>
                    <a:pt x="0" y="1066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47081" cy="144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1087868">
            <a:off x="-3377033" y="7615752"/>
            <a:ext cx="8811466" cy="3722844"/>
          </a:xfrm>
          <a:custGeom>
            <a:avLst/>
            <a:gdLst/>
            <a:ahLst/>
            <a:cxnLst/>
            <a:rect r="r" b="b" t="t" l="l"/>
            <a:pathLst>
              <a:path h="3722844" w="8811466">
                <a:moveTo>
                  <a:pt x="8811466" y="0"/>
                </a:moveTo>
                <a:lnTo>
                  <a:pt x="0" y="0"/>
                </a:lnTo>
                <a:lnTo>
                  <a:pt x="0" y="3722845"/>
                </a:lnTo>
                <a:lnTo>
                  <a:pt x="8811466" y="3722845"/>
                </a:lnTo>
                <a:lnTo>
                  <a:pt x="88114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1087868">
            <a:off x="12671136" y="-2189734"/>
            <a:ext cx="8811466" cy="3722844"/>
          </a:xfrm>
          <a:custGeom>
            <a:avLst/>
            <a:gdLst/>
            <a:ahLst/>
            <a:cxnLst/>
            <a:rect r="r" b="b" t="t" l="l"/>
            <a:pathLst>
              <a:path h="3722844" w="8811466">
                <a:moveTo>
                  <a:pt x="8811466" y="0"/>
                </a:moveTo>
                <a:lnTo>
                  <a:pt x="0" y="0"/>
                </a:lnTo>
                <a:lnTo>
                  <a:pt x="0" y="3722844"/>
                </a:lnTo>
                <a:lnTo>
                  <a:pt x="8811466" y="3722844"/>
                </a:lnTo>
                <a:lnTo>
                  <a:pt x="88114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92856" y="1595487"/>
            <a:ext cx="16230600" cy="5437622"/>
          </a:xfrm>
          <a:custGeom>
            <a:avLst/>
            <a:gdLst/>
            <a:ahLst/>
            <a:cxnLst/>
            <a:rect r="r" b="b" t="t" l="l"/>
            <a:pathLst>
              <a:path h="5437622" w="16230600">
                <a:moveTo>
                  <a:pt x="0" y="0"/>
                </a:moveTo>
                <a:lnTo>
                  <a:pt x="16230600" y="0"/>
                </a:lnTo>
                <a:lnTo>
                  <a:pt x="16230600" y="5437622"/>
                </a:lnTo>
                <a:lnTo>
                  <a:pt x="0" y="5437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23" t="-42104" r="0" b="-172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60682"/>
            <a:ext cx="15640007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59708" y="7442684"/>
            <a:ext cx="12358250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799" strike="noStrike" u="none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esults Obtained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CO₂ emissions from conventional v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ehicle: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1.31 tonnes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CO₂ emissions from electric vehicle: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0.99 tonnes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Annual CO₂ 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avings by switching to EV: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0.32 tonnes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Total CO₂ reduction over vehicle lifetime: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4.81 tonnes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59708" y="1595487"/>
            <a:ext cx="16125637" cy="405095"/>
            <a:chOff x="0" y="0"/>
            <a:chExt cx="4247081" cy="1066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47081" cy="106692"/>
            </a:xfrm>
            <a:custGeom>
              <a:avLst/>
              <a:gdLst/>
              <a:ahLst/>
              <a:cxnLst/>
              <a:rect r="r" b="b" t="t" l="l"/>
              <a:pathLst>
                <a:path h="106692" w="4247081">
                  <a:moveTo>
                    <a:pt x="0" y="0"/>
                  </a:moveTo>
                  <a:lnTo>
                    <a:pt x="4247081" y="0"/>
                  </a:lnTo>
                  <a:lnTo>
                    <a:pt x="4247081" y="106692"/>
                  </a:lnTo>
                  <a:lnTo>
                    <a:pt x="0" y="1066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47081" cy="144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1087868">
            <a:off x="-3377033" y="7615752"/>
            <a:ext cx="8811466" cy="3722844"/>
          </a:xfrm>
          <a:custGeom>
            <a:avLst/>
            <a:gdLst/>
            <a:ahLst/>
            <a:cxnLst/>
            <a:rect r="r" b="b" t="t" l="l"/>
            <a:pathLst>
              <a:path h="3722844" w="8811466">
                <a:moveTo>
                  <a:pt x="8811466" y="0"/>
                </a:moveTo>
                <a:lnTo>
                  <a:pt x="0" y="0"/>
                </a:lnTo>
                <a:lnTo>
                  <a:pt x="0" y="3722845"/>
                </a:lnTo>
                <a:lnTo>
                  <a:pt x="8811466" y="3722845"/>
                </a:lnTo>
                <a:lnTo>
                  <a:pt x="88114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1087868">
            <a:off x="12671136" y="-2189734"/>
            <a:ext cx="8811466" cy="3722844"/>
          </a:xfrm>
          <a:custGeom>
            <a:avLst/>
            <a:gdLst/>
            <a:ahLst/>
            <a:cxnLst/>
            <a:rect r="r" b="b" t="t" l="l"/>
            <a:pathLst>
              <a:path h="3722844" w="8811466">
                <a:moveTo>
                  <a:pt x="8811466" y="0"/>
                </a:moveTo>
                <a:lnTo>
                  <a:pt x="0" y="0"/>
                </a:lnTo>
                <a:lnTo>
                  <a:pt x="0" y="3722844"/>
                </a:lnTo>
                <a:lnTo>
                  <a:pt x="8811466" y="3722844"/>
                </a:lnTo>
                <a:lnTo>
                  <a:pt x="88114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7358" y="3713960"/>
            <a:ext cx="11150199" cy="692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Applications of AI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7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Smart Wast</a:t>
            </a:r>
            <a:r>
              <a:rPr lang="en-US" sz="27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 Management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AI-powered smart bins automatically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identify and sort waste for recy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cling.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Helps reduce landfill waste and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improve recycling efficiency.</a:t>
            </a:r>
          </a:p>
          <a:p>
            <a:pPr algn="just">
              <a:lnSpc>
                <a:spcPts val="3919"/>
              </a:lnSpc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Smart Agriculture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 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onitors crop health, detects plant diseases, and optimizes irrigation.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Energy Management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 pred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icts electricity demand and optimizes energy consumption.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Smart Transportation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 optimizes traffic flow and promotes electric vehicle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usage.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249361" y="4670750"/>
            <a:ext cx="4669262" cy="4587550"/>
          </a:xfrm>
          <a:custGeom>
            <a:avLst/>
            <a:gdLst/>
            <a:ahLst/>
            <a:cxnLst/>
            <a:rect r="r" b="b" t="t" l="l"/>
            <a:pathLst>
              <a:path h="4587550" w="4669262">
                <a:moveTo>
                  <a:pt x="0" y="0"/>
                </a:moveTo>
                <a:lnTo>
                  <a:pt x="4669262" y="0"/>
                </a:lnTo>
                <a:lnTo>
                  <a:pt x="4669262" y="4587550"/>
                </a:lnTo>
                <a:lnTo>
                  <a:pt x="0" y="4587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554055"/>
            <a:ext cx="13806932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for S</a:t>
            </a:r>
            <a:r>
              <a:rPr lang="en-US" sz="5000" b="tru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ustainability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7358" y="1738960"/>
            <a:ext cx="571438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</a:t>
            </a:r>
            <a:r>
              <a:rPr lang="en-US" sz="2799" b="true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 is AI for Sustainability?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96901" y="2353640"/>
            <a:ext cx="15262399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Artificial Intelligence (AI) helps solve envir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onmental problems by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analyzing data, automating tasks, and making systems more efficient.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59708" y="1595487"/>
            <a:ext cx="16125637" cy="405095"/>
            <a:chOff x="0" y="0"/>
            <a:chExt cx="4247081" cy="1066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47081" cy="106692"/>
            </a:xfrm>
            <a:custGeom>
              <a:avLst/>
              <a:gdLst/>
              <a:ahLst/>
              <a:cxnLst/>
              <a:rect r="r" b="b" t="t" l="l"/>
              <a:pathLst>
                <a:path h="106692" w="4247081">
                  <a:moveTo>
                    <a:pt x="0" y="0"/>
                  </a:moveTo>
                  <a:lnTo>
                    <a:pt x="4247081" y="0"/>
                  </a:lnTo>
                  <a:lnTo>
                    <a:pt x="4247081" y="106692"/>
                  </a:lnTo>
                  <a:lnTo>
                    <a:pt x="0" y="1066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47081" cy="144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1087868">
            <a:off x="-3377033" y="7615752"/>
            <a:ext cx="8811466" cy="3722844"/>
          </a:xfrm>
          <a:custGeom>
            <a:avLst/>
            <a:gdLst/>
            <a:ahLst/>
            <a:cxnLst/>
            <a:rect r="r" b="b" t="t" l="l"/>
            <a:pathLst>
              <a:path h="3722844" w="8811466">
                <a:moveTo>
                  <a:pt x="8811466" y="0"/>
                </a:moveTo>
                <a:lnTo>
                  <a:pt x="0" y="0"/>
                </a:lnTo>
                <a:lnTo>
                  <a:pt x="0" y="3722845"/>
                </a:lnTo>
                <a:lnTo>
                  <a:pt x="8811466" y="3722845"/>
                </a:lnTo>
                <a:lnTo>
                  <a:pt x="88114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1087868">
            <a:off x="12671136" y="-2189734"/>
            <a:ext cx="8811466" cy="3722844"/>
          </a:xfrm>
          <a:custGeom>
            <a:avLst/>
            <a:gdLst/>
            <a:ahLst/>
            <a:cxnLst/>
            <a:rect r="r" b="b" t="t" l="l"/>
            <a:pathLst>
              <a:path h="3722844" w="8811466">
                <a:moveTo>
                  <a:pt x="8811466" y="0"/>
                </a:moveTo>
                <a:lnTo>
                  <a:pt x="0" y="0"/>
                </a:lnTo>
                <a:lnTo>
                  <a:pt x="0" y="3722844"/>
                </a:lnTo>
                <a:lnTo>
                  <a:pt x="8811466" y="3722844"/>
                </a:lnTo>
                <a:lnTo>
                  <a:pt x="88114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7358" y="3713960"/>
            <a:ext cx="11150199" cy="692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Applications of AI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7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Smart Wast</a:t>
            </a:r>
            <a:r>
              <a:rPr lang="en-US" sz="27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 Management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AI-powered smart bins automatically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identify and sort waste for recy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cling.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Helps reduce landfill waste and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improve recycling efficiency.</a:t>
            </a:r>
          </a:p>
          <a:p>
            <a:pPr algn="just">
              <a:lnSpc>
                <a:spcPts val="3919"/>
              </a:lnSpc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Smart Agriculture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 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onitors crop health, detects plant diseases, and optimizes irrigation.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Energy Management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 pred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icts electricity demand and optimizes energy consumption.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Smart Transportation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 optimizes traffic flow and promotes electric vehicle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usage.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249361" y="4670750"/>
            <a:ext cx="4669262" cy="4587550"/>
          </a:xfrm>
          <a:custGeom>
            <a:avLst/>
            <a:gdLst/>
            <a:ahLst/>
            <a:cxnLst/>
            <a:rect r="r" b="b" t="t" l="l"/>
            <a:pathLst>
              <a:path h="4587550" w="4669262">
                <a:moveTo>
                  <a:pt x="0" y="0"/>
                </a:moveTo>
                <a:lnTo>
                  <a:pt x="4669262" y="0"/>
                </a:lnTo>
                <a:lnTo>
                  <a:pt x="4669262" y="4587550"/>
                </a:lnTo>
                <a:lnTo>
                  <a:pt x="0" y="4587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554055"/>
            <a:ext cx="13806932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for S</a:t>
            </a:r>
            <a:r>
              <a:rPr lang="en-US" sz="5000" b="tru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ustainability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7358" y="1738960"/>
            <a:ext cx="571438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</a:t>
            </a:r>
            <a:r>
              <a:rPr lang="en-US" sz="2799" b="true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 is AI for Sustainability?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96901" y="2353640"/>
            <a:ext cx="15262399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Artificial Intelligence (AI) helps solve envir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onmental problems by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analyzing data, automating tasks, and making systems more efficient.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44700" y="3141440"/>
            <a:ext cx="1099650" cy="1099650"/>
            <a:chOff x="0" y="0"/>
            <a:chExt cx="1466200" cy="14662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466200" cy="146620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E446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8461" lIns="38461" bIns="38461" rIns="38461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156350" y="343073"/>
              <a:ext cx="1153500" cy="780054"/>
            </a:xfrm>
            <a:custGeom>
              <a:avLst/>
              <a:gdLst/>
              <a:ahLst/>
              <a:cxnLst/>
              <a:rect r="r" b="b" t="t" l="l"/>
              <a:pathLst>
                <a:path h="780054" w="1153500">
                  <a:moveTo>
                    <a:pt x="0" y="0"/>
                  </a:moveTo>
                  <a:lnTo>
                    <a:pt x="1153500" y="0"/>
                  </a:lnTo>
                  <a:lnTo>
                    <a:pt x="1153500" y="780054"/>
                  </a:lnTo>
                  <a:lnTo>
                    <a:pt x="0" y="780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944700" y="6232708"/>
            <a:ext cx="1099650" cy="1099650"/>
            <a:chOff x="0" y="0"/>
            <a:chExt cx="1466200" cy="14662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466200" cy="1466200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E44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8461" lIns="38461" bIns="38461" rIns="38461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342163" y="149612"/>
              <a:ext cx="781873" cy="1166975"/>
            </a:xfrm>
            <a:custGeom>
              <a:avLst/>
              <a:gdLst/>
              <a:ahLst/>
              <a:cxnLst/>
              <a:rect r="r" b="b" t="t" l="l"/>
              <a:pathLst>
                <a:path h="1166975" w="781873">
                  <a:moveTo>
                    <a:pt x="0" y="0"/>
                  </a:moveTo>
                  <a:lnTo>
                    <a:pt x="781874" y="0"/>
                  </a:lnTo>
                  <a:lnTo>
                    <a:pt x="781874" y="1166975"/>
                  </a:lnTo>
                  <a:lnTo>
                    <a:pt x="0" y="1166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2605" y="7450199"/>
            <a:ext cx="5763531" cy="96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Helps monito</a:t>
            </a:r>
            <a:r>
              <a:rPr lang="en-US" b="true" sz="2799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 air quality, pollution, and climate change</a:t>
            </a:r>
          </a:p>
        </p:txBody>
      </p:sp>
      <p:sp>
        <p:nvSpPr>
          <p:cNvPr name="Freeform 13" id="13"/>
          <p:cNvSpPr/>
          <p:nvPr/>
        </p:nvSpPr>
        <p:spPr>
          <a:xfrm flipH="true" flipV="false" rot="7555685">
            <a:off x="-3828732" y="346363"/>
            <a:ext cx="8811466" cy="3722844"/>
          </a:xfrm>
          <a:custGeom>
            <a:avLst/>
            <a:gdLst/>
            <a:ahLst/>
            <a:cxnLst/>
            <a:rect r="r" b="b" t="t" l="l"/>
            <a:pathLst>
              <a:path h="3722844" w="8811466">
                <a:moveTo>
                  <a:pt x="8811465" y="0"/>
                </a:moveTo>
                <a:lnTo>
                  <a:pt x="0" y="0"/>
                </a:lnTo>
                <a:lnTo>
                  <a:pt x="0" y="3722844"/>
                </a:lnTo>
                <a:lnTo>
                  <a:pt x="8811465" y="3722844"/>
                </a:lnTo>
                <a:lnTo>
                  <a:pt x="881146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-3370341">
            <a:off x="11591812" y="8436630"/>
            <a:ext cx="8811466" cy="3722844"/>
          </a:xfrm>
          <a:custGeom>
            <a:avLst/>
            <a:gdLst/>
            <a:ahLst/>
            <a:cxnLst/>
            <a:rect r="r" b="b" t="t" l="l"/>
            <a:pathLst>
              <a:path h="3722844" w="8811466">
                <a:moveTo>
                  <a:pt x="8811466" y="0"/>
                </a:moveTo>
                <a:lnTo>
                  <a:pt x="0" y="0"/>
                </a:lnTo>
                <a:lnTo>
                  <a:pt x="0" y="3722844"/>
                </a:lnTo>
                <a:lnTo>
                  <a:pt x="8811466" y="3722844"/>
                </a:lnTo>
                <a:lnTo>
                  <a:pt x="881146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118274" y="3048845"/>
            <a:ext cx="1192245" cy="1192245"/>
            <a:chOff x="0" y="0"/>
            <a:chExt cx="1589660" cy="158966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589660" cy="1589660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E446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8461" lIns="38461" bIns="38461" rIns="38461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273100" y="188879"/>
              <a:ext cx="1160397" cy="1211903"/>
            </a:xfrm>
            <a:custGeom>
              <a:avLst/>
              <a:gdLst/>
              <a:ahLst/>
              <a:cxnLst/>
              <a:rect r="r" b="b" t="t" l="l"/>
              <a:pathLst>
                <a:path h="1211903" w="1160397">
                  <a:moveTo>
                    <a:pt x="0" y="0"/>
                  </a:moveTo>
                  <a:lnTo>
                    <a:pt x="1160396" y="0"/>
                  </a:lnTo>
                  <a:lnTo>
                    <a:pt x="1160396" y="1211902"/>
                  </a:lnTo>
                  <a:lnTo>
                    <a:pt x="0" y="12119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118274" y="6140113"/>
            <a:ext cx="1192245" cy="1192245"/>
            <a:chOff x="0" y="0"/>
            <a:chExt cx="1589660" cy="158966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589660" cy="1589660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E446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8461" lIns="38461" bIns="38461" rIns="38461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118557" y="230987"/>
              <a:ext cx="1352545" cy="1127685"/>
            </a:xfrm>
            <a:custGeom>
              <a:avLst/>
              <a:gdLst/>
              <a:ahLst/>
              <a:cxnLst/>
              <a:rect r="r" b="b" t="t" l="l"/>
              <a:pathLst>
                <a:path h="1127685" w="1352545">
                  <a:moveTo>
                    <a:pt x="0" y="0"/>
                  </a:moveTo>
                  <a:lnTo>
                    <a:pt x="1352545" y="0"/>
                  </a:lnTo>
                  <a:lnTo>
                    <a:pt x="1352545" y="1127685"/>
                  </a:lnTo>
                  <a:lnTo>
                    <a:pt x="0" y="1127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764833" y="7450199"/>
            <a:ext cx="5459383" cy="96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</a:t>
            </a:r>
            <a:r>
              <a:rPr lang="en-US" b="true" sz="2799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ports precision agriculture and saves water.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580106" y="467885"/>
            <a:ext cx="9127789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Benefits and Challeng</a:t>
            </a:r>
            <a:r>
              <a:rPr lang="en-US" b="true" sz="5000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 of AI for Sustainability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08051" y="4440630"/>
            <a:ext cx="6616334" cy="96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Reduces ene</a:t>
            </a:r>
            <a:r>
              <a:rPr lang="en-US" b="true" sz="2799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rgy consumption through smart optimization.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22605" y="4440630"/>
            <a:ext cx="5517297" cy="96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</a:t>
            </a:r>
            <a:r>
              <a:rPr lang="en-US" b="true" sz="2799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roves waste management and recycling.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59708" y="1595487"/>
            <a:ext cx="16125637" cy="405095"/>
            <a:chOff x="0" y="0"/>
            <a:chExt cx="4247081" cy="1066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47081" cy="106692"/>
            </a:xfrm>
            <a:custGeom>
              <a:avLst/>
              <a:gdLst/>
              <a:ahLst/>
              <a:cxnLst/>
              <a:rect r="r" b="b" t="t" l="l"/>
              <a:pathLst>
                <a:path h="106692" w="4247081">
                  <a:moveTo>
                    <a:pt x="0" y="0"/>
                  </a:moveTo>
                  <a:lnTo>
                    <a:pt x="4247081" y="0"/>
                  </a:lnTo>
                  <a:lnTo>
                    <a:pt x="4247081" y="106692"/>
                  </a:lnTo>
                  <a:lnTo>
                    <a:pt x="0" y="1066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47081" cy="144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1087868">
            <a:off x="-3377033" y="7615752"/>
            <a:ext cx="8811466" cy="3722844"/>
          </a:xfrm>
          <a:custGeom>
            <a:avLst/>
            <a:gdLst/>
            <a:ahLst/>
            <a:cxnLst/>
            <a:rect r="r" b="b" t="t" l="l"/>
            <a:pathLst>
              <a:path h="3722844" w="8811466">
                <a:moveTo>
                  <a:pt x="8811466" y="0"/>
                </a:moveTo>
                <a:lnTo>
                  <a:pt x="0" y="0"/>
                </a:lnTo>
                <a:lnTo>
                  <a:pt x="0" y="3722845"/>
                </a:lnTo>
                <a:lnTo>
                  <a:pt x="8811466" y="3722845"/>
                </a:lnTo>
                <a:lnTo>
                  <a:pt x="88114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1087868">
            <a:off x="12671136" y="-2189734"/>
            <a:ext cx="8811466" cy="3722844"/>
          </a:xfrm>
          <a:custGeom>
            <a:avLst/>
            <a:gdLst/>
            <a:ahLst/>
            <a:cxnLst/>
            <a:rect r="r" b="b" t="t" l="l"/>
            <a:pathLst>
              <a:path h="3722844" w="8811466">
                <a:moveTo>
                  <a:pt x="8811466" y="0"/>
                </a:moveTo>
                <a:lnTo>
                  <a:pt x="0" y="0"/>
                </a:lnTo>
                <a:lnTo>
                  <a:pt x="0" y="3722844"/>
                </a:lnTo>
                <a:lnTo>
                  <a:pt x="8811466" y="3722844"/>
                </a:lnTo>
                <a:lnTo>
                  <a:pt x="88114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54055"/>
            <a:ext cx="2671686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52900" y="1914857"/>
            <a:ext cx="11569276" cy="75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4399" b="true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EcoSor</a:t>
            </a:r>
            <a:r>
              <a:rPr lang="en-US" sz="4399" b="true">
                <a:solidFill>
                  <a:srgbClr val="1B5E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 AI – Smart Waste Classification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52273" y="3127058"/>
            <a:ext cx="14970530" cy="692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Objective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Develop an 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AI-powered system that automatically identifies and classifies waste into categories such as Plastic, Paper, Glass, Metal, Organic Waste, and E-waste using image recognition.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Improper waste segregation leads to polluti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on, inefficient recycling, and increased landfill waste.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Proposed Solution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Use an AI model to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analyze an image of waste and automatically classify it into the correct waste category. The system will also suggest the appropriate recycling or disposal method.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087868">
            <a:off x="-3377033" y="7615752"/>
            <a:ext cx="8811466" cy="3722844"/>
          </a:xfrm>
          <a:custGeom>
            <a:avLst/>
            <a:gdLst/>
            <a:ahLst/>
            <a:cxnLst/>
            <a:rect r="r" b="b" t="t" l="l"/>
            <a:pathLst>
              <a:path h="3722844" w="8811466">
                <a:moveTo>
                  <a:pt x="8811466" y="0"/>
                </a:moveTo>
                <a:lnTo>
                  <a:pt x="0" y="0"/>
                </a:lnTo>
                <a:lnTo>
                  <a:pt x="0" y="3722845"/>
                </a:lnTo>
                <a:lnTo>
                  <a:pt x="8811466" y="3722845"/>
                </a:lnTo>
                <a:lnTo>
                  <a:pt x="88114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1087868">
            <a:off x="12671136" y="-2189734"/>
            <a:ext cx="8811466" cy="3722844"/>
          </a:xfrm>
          <a:custGeom>
            <a:avLst/>
            <a:gdLst/>
            <a:ahLst/>
            <a:cxnLst/>
            <a:rect r="r" b="b" t="t" l="l"/>
            <a:pathLst>
              <a:path h="3722844" w="8811466">
                <a:moveTo>
                  <a:pt x="8811466" y="0"/>
                </a:moveTo>
                <a:lnTo>
                  <a:pt x="0" y="0"/>
                </a:lnTo>
                <a:lnTo>
                  <a:pt x="0" y="3722844"/>
                </a:lnTo>
                <a:lnTo>
                  <a:pt x="8811466" y="3722844"/>
                </a:lnTo>
                <a:lnTo>
                  <a:pt x="88114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98631" y="4000500"/>
            <a:ext cx="8690738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 b="tru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</a:t>
            </a:r>
            <a:r>
              <a:rPr lang="en-US" sz="12000" b="true">
                <a:solidFill>
                  <a:srgbClr val="1B5E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DAHOrFX56AI</dc:identifier>
  <dcterms:modified xsi:type="dcterms:W3CDTF">2011-08-01T06:04:30Z</dcterms:modified>
  <cp:revision>1</cp:revision>
  <dc:title>Green Skills using AI Technologies</dc:title>
</cp:coreProperties>
</file>